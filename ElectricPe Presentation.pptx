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aleway"/>
      <p:regular r:id="rId10"/>
      <p:bold r:id="rId11"/>
      <p:italic r:id="rId12"/>
      <p:boldItalic r:id="rId13"/>
    </p:embeddedFont>
    <p:embeddedFont>
      <p:font typeface="La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.fntdata"/><Relationship Id="rId10" Type="http://schemas.openxmlformats.org/officeDocument/2006/relationships/font" Target="fonts/Raleway-regular.fntdata"/><Relationship Id="rId13" Type="http://schemas.openxmlformats.org/officeDocument/2006/relationships/font" Target="fonts/Raleway-boldItalic.fntdata"/><Relationship Id="rId12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ato-bold.fntdata"/><Relationship Id="rId14" Type="http://schemas.openxmlformats.org/officeDocument/2006/relationships/font" Target="fonts/Lato-regular.fntdata"/><Relationship Id="rId17" Type="http://schemas.openxmlformats.org/officeDocument/2006/relationships/font" Target="fonts/Lato-boldItalic.fntdata"/><Relationship Id="rId16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e80e8a2b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e80e8a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eb0c261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eb0c261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90275" y="611675"/>
            <a:ext cx="8332500" cy="10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900">
                <a:latin typeface="Calibri"/>
                <a:ea typeface="Calibri"/>
                <a:cs typeface="Calibri"/>
                <a:sym typeface="Calibri"/>
              </a:rPr>
              <a:t>ElectricPe Operational Analysis        </a:t>
            </a:r>
            <a:endParaRPr sz="3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Excel Dashboard Insights</a:t>
            </a:r>
            <a:endParaRPr b="1" sz="2400"/>
          </a:p>
        </p:txBody>
      </p:sp>
      <p:pic>
        <p:nvPicPr>
          <p:cNvPr id="74" name="Google Shape;74;p13" title="Screenshot 2025-10-30 at 4.44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7725" y="1955350"/>
            <a:ext cx="6116598" cy="206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 title="Screenshot 2025-10-31 at 7.23.54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8747" y="416950"/>
            <a:ext cx="1896100" cy="9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idx="4294967295" type="title"/>
          </p:nvPr>
        </p:nvSpPr>
        <p:spPr>
          <a:xfrm>
            <a:off x="535775" y="211700"/>
            <a:ext cx="81942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100">
                <a:solidFill>
                  <a:schemeClr val="dk1"/>
                </a:solidFill>
              </a:rPr>
              <a:t>Key Metrics Overview </a:t>
            </a:r>
            <a:endParaRPr sz="1900"/>
          </a:p>
        </p:txBody>
      </p:sp>
      <p:sp>
        <p:nvSpPr>
          <p:cNvPr id="81" name="Google Shape;81;p14"/>
          <p:cNvSpPr txBox="1"/>
          <p:nvPr>
            <p:ph idx="4294967295" type="title"/>
          </p:nvPr>
        </p:nvSpPr>
        <p:spPr>
          <a:xfrm>
            <a:off x="535775" y="1480150"/>
            <a:ext cx="4746900" cy="3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imes New Roman"/>
                <a:ea typeface="Times New Roman"/>
                <a:cs typeface="Times New Roman"/>
                <a:sym typeface="Times New Roman"/>
              </a:rPr>
              <a:t>KPI                    | Value          | Comment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Total Leads                                   | 1002                                 | Strong lead generation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Booking Conversion                    | 99.8%                             | Excellent conversion performance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Delivery Rate                                | 100%                              | Efficient fulfillment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Cancellation Rate                         | 27.05%                          | Needs improvement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Follow-up Completion                 | 72.9%                            | Moderate — gaps in engagement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Avg Booking TAT (Days)             | 3.07                                | Fast processing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Avg Delivery TAT (Days)             | 4.46                               | Slight delay scope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900">
                <a:latin typeface="Times New Roman"/>
                <a:ea typeface="Times New Roman"/>
                <a:cs typeface="Times New Roman"/>
                <a:sym typeface="Times New Roman"/>
              </a:rPr>
              <a:t>Avg Customer Rating (1–10)        | 4.85                               | Moderate satisfaction level</a:t>
            </a:r>
            <a:endParaRPr sz="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700">
                <a:latin typeface="Lato"/>
                <a:ea typeface="Lato"/>
                <a:cs typeface="Lato"/>
                <a:sym typeface="Lato"/>
              </a:rPr>
              <a:t>---------------------------------------------------------------</a:t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7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7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338125" y="1121375"/>
            <a:ext cx="3577200" cy="36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Insights &amp; Bottlenecks 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🔹 </a:t>
            </a:r>
            <a:r>
              <a:rPr b="1" lang="en" sz="1100">
                <a:solidFill>
                  <a:schemeClr val="dk1"/>
                </a:solidFill>
              </a:rPr>
              <a:t>High cancellations (27%)</a:t>
            </a:r>
            <a:r>
              <a:rPr lang="en" sz="1100">
                <a:solidFill>
                  <a:schemeClr val="dk2"/>
                </a:solidFill>
              </a:rPr>
              <a:t> → possibly due to </a:t>
            </a:r>
            <a:r>
              <a:rPr b="1" lang="en" sz="1100">
                <a:solidFill>
                  <a:schemeClr val="dk2"/>
                </a:solidFill>
              </a:rPr>
              <a:t>model unavailability</a:t>
            </a:r>
            <a:r>
              <a:rPr lang="en" sz="1100">
                <a:solidFill>
                  <a:schemeClr val="dk2"/>
                </a:solidFill>
              </a:rPr>
              <a:t> or </a:t>
            </a:r>
            <a:r>
              <a:rPr b="1" lang="en" sz="1100">
                <a:solidFill>
                  <a:schemeClr val="dk2"/>
                </a:solidFill>
              </a:rPr>
              <a:t>expectation mismatch</a:t>
            </a:r>
            <a:r>
              <a:rPr lang="en" sz="1100">
                <a:solidFill>
                  <a:schemeClr val="dk2"/>
                </a:solidFill>
              </a:rPr>
              <a:t>.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🔹 </a:t>
            </a:r>
            <a:r>
              <a:rPr b="1" lang="en" sz="1100">
                <a:solidFill>
                  <a:schemeClr val="dk1"/>
                </a:solidFill>
              </a:rPr>
              <a:t>Low satisfaction (4.85/10)</a:t>
            </a:r>
            <a:r>
              <a:rPr lang="en" sz="1100">
                <a:solidFill>
                  <a:schemeClr val="dk2"/>
                </a:solidFill>
              </a:rPr>
              <a:t> → signals service or communication issues.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🔹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b="1" lang="en" sz="1100">
                <a:solidFill>
                  <a:schemeClr val="dk1"/>
                </a:solidFill>
              </a:rPr>
              <a:t>Follow-up rate (72.9%)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2"/>
                </a:solidFill>
              </a:rPr>
              <a:t>→ ~1 in 4 customers not followed up after delivery.</a:t>
            </a:r>
            <a:br>
              <a:rPr lang="en" sz="1100">
                <a:solidFill>
                  <a:schemeClr val="dk2"/>
                </a:solidFill>
              </a:rPr>
            </a:b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🔹 </a:t>
            </a:r>
            <a:r>
              <a:rPr b="1" lang="en" sz="1100">
                <a:solidFill>
                  <a:schemeClr val="dk1"/>
                </a:solidFill>
              </a:rPr>
              <a:t>Delivery TAT (4.46 days)</a:t>
            </a:r>
            <a:r>
              <a:rPr lang="en" sz="1100">
                <a:solidFill>
                  <a:schemeClr val="dk2"/>
                </a:solidFill>
              </a:rPr>
              <a:t> → scope to optimize routes and logistics.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idx="4294967295" type="title"/>
          </p:nvPr>
        </p:nvSpPr>
        <p:spPr>
          <a:xfrm>
            <a:off x="322600" y="267300"/>
            <a:ext cx="82314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400">
                <a:solidFill>
                  <a:schemeClr val="dk1"/>
                </a:solidFill>
              </a:rPr>
              <a:t>Recommendations &amp; Business Impact</a:t>
            </a:r>
            <a:endParaRPr sz="2200"/>
          </a:p>
        </p:txBody>
      </p:sp>
      <p:sp>
        <p:nvSpPr>
          <p:cNvPr id="88" name="Google Shape;88;p15"/>
          <p:cNvSpPr txBox="1"/>
          <p:nvPr>
            <p:ph idx="4294967295" type="title"/>
          </p:nvPr>
        </p:nvSpPr>
        <p:spPr>
          <a:xfrm>
            <a:off x="267025" y="1038000"/>
            <a:ext cx="4969200" cy="39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Conver</a:t>
            </a: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sion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  <a:t> Maintain predictive lead scoring to sustain ~99%+ conversion.</a:t>
            </a:r>
            <a:b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Delivery TAT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  <a:t> Optimize logistics and routing to cut delivery time by 15–20%.</a:t>
            </a:r>
            <a:b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 Follow-ups 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→</a:t>
            </a:r>
            <a: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  <a:t> Automate reminders and integrate a follow-up dashboard.</a:t>
            </a:r>
            <a:b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Cancellation Reduction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  <a:t> Analyze reasons and re-target dropped customers.</a:t>
            </a:r>
            <a:b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Satisfaction</a:t>
            </a:r>
            <a:r>
              <a:rPr lang="en" sz="1100">
                <a:latin typeface="Times New Roman"/>
                <a:ea typeface="Times New Roman"/>
                <a:cs typeface="Times New Roman"/>
                <a:sym typeface="Times New Roman"/>
              </a:rPr>
              <a:t> →</a:t>
            </a:r>
            <a:r>
              <a:rPr b="0" lang="en" sz="1100">
                <a:latin typeface="Times New Roman"/>
                <a:ea typeface="Times New Roman"/>
                <a:cs typeface="Times New Roman"/>
                <a:sym typeface="Times New Roman"/>
              </a:rPr>
              <a:t> Introduce post-service surveys and quick issue resolution.</a:t>
            </a:r>
            <a:endParaRPr b="0"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0" sz="1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5143475" y="1223325"/>
            <a:ext cx="3818400" cy="3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2"/>
                </a:solidFill>
              </a:rPr>
              <a:t>Impact Summary </a:t>
            </a:r>
            <a:endParaRPr b="1" sz="13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📈 </a:t>
            </a:r>
            <a:r>
              <a:rPr b="1" lang="en" sz="1100">
                <a:solidFill>
                  <a:schemeClr val="dk1"/>
                </a:solidFill>
              </a:rPr>
              <a:t>Expected Results: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Reduce cancellations by </a:t>
            </a:r>
            <a:r>
              <a:rPr b="1" lang="en" sz="1100">
                <a:solidFill>
                  <a:schemeClr val="dk2"/>
                </a:solidFill>
              </a:rPr>
              <a:t>~10%</a:t>
            </a:r>
            <a:br>
              <a:rPr b="1" lang="en" sz="1100">
                <a:solidFill>
                  <a:schemeClr val="dk2"/>
                </a:solidFill>
              </a:rPr>
            </a:b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Improve average customer rating from </a:t>
            </a:r>
            <a:r>
              <a:rPr b="1" lang="en" sz="1100">
                <a:solidFill>
                  <a:schemeClr val="dk2"/>
                </a:solidFill>
              </a:rPr>
              <a:t>4.8 → 7+</a:t>
            </a:r>
            <a:br>
              <a:rPr b="1" lang="en" sz="1100">
                <a:solidFill>
                  <a:schemeClr val="dk2"/>
                </a:solidFill>
              </a:rPr>
            </a:b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Increase follow-up completion rate to </a:t>
            </a:r>
            <a:r>
              <a:rPr b="1" lang="en" sz="1100">
                <a:solidFill>
                  <a:schemeClr val="dk2"/>
                </a:solidFill>
              </a:rPr>
              <a:t>&gt;90%</a:t>
            </a:r>
            <a:br>
              <a:rPr b="1" lang="en" sz="1100">
                <a:solidFill>
                  <a:schemeClr val="dk2"/>
                </a:solidFill>
              </a:rPr>
            </a:br>
            <a:endParaRPr b="1" sz="1100">
              <a:solidFill>
                <a:schemeClr val="dk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Enhance overall operational efficiency and brand trust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idx="4294967295" type="title"/>
          </p:nvPr>
        </p:nvSpPr>
        <p:spPr>
          <a:xfrm>
            <a:off x="609900" y="424850"/>
            <a:ext cx="8231400" cy="7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dk1"/>
                </a:solidFill>
              </a:rPr>
              <a:t>Conclusion</a:t>
            </a:r>
            <a:r>
              <a:rPr b="0" lang="en" sz="3400">
                <a:solidFill>
                  <a:schemeClr val="dk1"/>
                </a:solidFill>
              </a:rPr>
              <a:t> </a:t>
            </a:r>
            <a:r>
              <a:rPr lang="en" sz="3400">
                <a:solidFill>
                  <a:schemeClr val="dk1"/>
                </a:solidFill>
              </a:rPr>
              <a:t>: </a:t>
            </a:r>
            <a:endParaRPr sz="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3400">
              <a:solidFill>
                <a:schemeClr val="dk1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713600" y="1482800"/>
            <a:ext cx="7228800" cy="30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Our data reveals strong conversion and delivery efficiency, but notable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retention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post-delivery satisfaction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Addressing these can unlock higher loyalty and operational excellence.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tightening post-sales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processes and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optimizing logistics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we can drive measurable impact — higher customer satisfaction, fewer cancellations, and faster delivery cycles.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Implementing the above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 help in improving efficiency and customer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satisfaction</a:t>
            </a:r>
            <a:r>
              <a:rPr b="1" lang="en" sz="15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all stores</a:t>
            </a:r>
            <a:endParaRPr b="1" sz="15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